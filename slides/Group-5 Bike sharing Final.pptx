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9" r:id="rId8"/>
    <p:sldId id="270" r:id="rId9"/>
    <p:sldId id="271" r:id="rId10"/>
    <p:sldId id="263" r:id="rId11"/>
    <p:sldId id="264" r:id="rId12"/>
    <p:sldId id="272" r:id="rId13"/>
    <p:sldId id="273" r:id="rId14"/>
    <p:sldId id="274" r:id="rId15"/>
    <p:sldId id="275" r:id="rId16"/>
    <p:sldId id="265" r:id="rId17"/>
    <p:sldId id="26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D2545"/>
    <a:srgbClr val="0B254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714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GB" sz="1300" b="0" i="0" u="none" strike="noStrike">
                <a:solidFill>
                  <a:srgbClr val="000000"/>
                </a:solidFill>
                <a:latin typeface="Arial"/>
              </a:rPr>
              <a:t>R² Score by Model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R2 Score</c:v>
                </c:pt>
              </c:strCache>
            </c:strRef>
          </c:tx>
          <c:spPr>
            <a:solidFill>
              <a:srgbClr val="00A89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Support Vector (SVR)</c:v>
                </c:pt>
                <c:pt idx="1">
                  <c:v>Random Forest</c:v>
                </c:pt>
                <c:pt idx="2">
                  <c:v>Gradient Boosting</c:v>
                </c:pt>
                <c:pt idx="3">
                  <c:v>XGBoost</c:v>
                </c:pt>
                <c:pt idx="4">
                  <c:v>Decision Tree</c:v>
                </c:pt>
                <c:pt idx="5">
                  <c:v>Ridge</c:v>
                </c:pt>
                <c:pt idx="6">
                  <c:v>Lasso</c:v>
                </c:pt>
                <c:pt idx="7">
                  <c:v>Linear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0.91600000000000004</c:v>
                </c:pt>
                <c:pt idx="1">
                  <c:v>0.91320000000000001</c:v>
                </c:pt>
                <c:pt idx="2">
                  <c:v>0.90839999999999999</c:v>
                </c:pt>
                <c:pt idx="3">
                  <c:v>0.90259999999999996</c:v>
                </c:pt>
                <c:pt idx="4">
                  <c:v>0.86950000000000005</c:v>
                </c:pt>
                <c:pt idx="5">
                  <c:v>0.85780000000000001</c:v>
                </c:pt>
                <c:pt idx="6">
                  <c:v>0.85709999999999997</c:v>
                </c:pt>
                <c:pt idx="7">
                  <c:v>0.85350000000000004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1182029584"/>
        <c:axId val="-1182020880"/>
      </c:barChart>
      <c:catAx>
        <c:axId val="-118202958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-1182020880"/>
        <c:crosses val="autoZero"/>
        <c:auto val="1"/>
        <c:lblAlgn val="ctr"/>
        <c:lblOffset val="100"/>
        <c:noMultiLvlLbl val="1"/>
      </c:catAx>
      <c:valAx>
        <c:axId val="-1182020880"/>
        <c:scaling>
          <c:orientation val="minMax"/>
          <c:max val="0.95"/>
          <c:min val="0.8"/>
        </c:scaling>
        <c:delete val="0"/>
        <c:axPos val="b"/>
        <c:majorGridlines>
          <c:spPr>
            <a:ln w="12700" cap="flat">
              <a:solidFill>
                <a:srgbClr val="E2E8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-118202958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635EAB-4344-49B0-B636-C98DBB23F3DA}" type="datetimeFigureOut">
              <a:rPr lang="en-GB" smtClean="0"/>
              <a:t>04/09/2026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A34566-60A0-4A73-BEA2-F7EE0B7F4E5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164513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66147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03408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26341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0242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8777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47190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1218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372045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8.png"/><Relationship Id="rId10" Type="http://schemas.openxmlformats.org/officeDocument/2006/relationships/image" Target="../media/image12.png"/><Relationship Id="rId4" Type="http://schemas.openxmlformats.org/officeDocument/2006/relationships/image" Target="../media/image7.png"/><Relationship Id="rId9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2.png"/><Relationship Id="rId3" Type="http://schemas.openxmlformats.org/officeDocument/2006/relationships/image" Target="../media/image3.png"/><Relationship Id="rId7" Type="http://schemas.openxmlformats.org/officeDocument/2006/relationships/image" Target="../media/image16.png"/><Relationship Id="rId12" Type="http://schemas.openxmlformats.org/officeDocument/2006/relationships/image" Target="../media/image2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5" Type="http://schemas.openxmlformats.org/officeDocument/2006/relationships/image" Target="../media/image2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Relationship Id="rId14" Type="http://schemas.openxmlformats.org/officeDocument/2006/relationships/image" Target="../media/image2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5.png"/><Relationship Id="rId7" Type="http://schemas.openxmlformats.org/officeDocument/2006/relationships/image" Target="../media/image2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3.png"/><Relationship Id="rId4" Type="http://schemas.openxmlformats.org/officeDocument/2006/relationships/image" Target="../media/image2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30.png"/><Relationship Id="rId7" Type="http://schemas.openxmlformats.org/officeDocument/2006/relationships/image" Target="../media/image3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Relationship Id="rId9" Type="http://schemas.openxmlformats.org/officeDocument/2006/relationships/image" Target="../media/image3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6.png"/><Relationship Id="rId7" Type="http://schemas.openxmlformats.org/officeDocument/2006/relationships/image" Target="../media/image3.png"/><Relationship Id="rId12" Type="http://schemas.openxmlformats.org/officeDocument/2006/relationships/image" Target="../media/image4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png"/><Relationship Id="rId11" Type="http://schemas.openxmlformats.org/officeDocument/2006/relationships/image" Target="../media/image43.png"/><Relationship Id="rId5" Type="http://schemas.openxmlformats.org/officeDocument/2006/relationships/image" Target="../media/image38.png"/><Relationship Id="rId10" Type="http://schemas.openxmlformats.org/officeDocument/2006/relationships/image" Target="../media/image42.png"/><Relationship Id="rId4" Type="http://schemas.openxmlformats.org/officeDocument/2006/relationships/image" Target="../media/image37.png"/><Relationship Id="rId9" Type="http://schemas.openxmlformats.org/officeDocument/2006/relationships/image" Target="../media/image4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image" Target="../media/image49.png"/><Relationship Id="rId7" Type="http://schemas.openxmlformats.org/officeDocument/2006/relationships/image" Target="../media/image5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1.png"/><Relationship Id="rId5" Type="http://schemas.openxmlformats.org/officeDocument/2006/relationships/image" Target="../media/image3.png"/><Relationship Id="rId4" Type="http://schemas.openxmlformats.org/officeDocument/2006/relationships/image" Target="../media/image50.png"/><Relationship Id="rId9" Type="http://schemas.openxmlformats.org/officeDocument/2006/relationships/image" Target="../media/image2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3" Type="http://schemas.openxmlformats.org/officeDocument/2006/relationships/image" Target="../media/image54.png"/><Relationship Id="rId7" Type="http://schemas.openxmlformats.org/officeDocument/2006/relationships/image" Target="../media/image28.png"/><Relationship Id="rId12" Type="http://schemas.openxmlformats.org/officeDocument/2006/relationships/image" Target="../media/image6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6.png"/><Relationship Id="rId11" Type="http://schemas.openxmlformats.org/officeDocument/2006/relationships/image" Target="../media/image59.png"/><Relationship Id="rId5" Type="http://schemas.openxmlformats.org/officeDocument/2006/relationships/image" Target="../media/image3.png"/><Relationship Id="rId10" Type="http://schemas.openxmlformats.org/officeDocument/2006/relationships/image" Target="../media/image58.png"/><Relationship Id="rId4" Type="http://schemas.openxmlformats.org/officeDocument/2006/relationships/image" Target="../media/image55.png"/><Relationship Id="rId9" Type="http://schemas.openxmlformats.org/officeDocument/2006/relationships/image" Target="../media/image2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3" Type="http://schemas.openxmlformats.org/officeDocument/2006/relationships/image" Target="../media/image64.png"/><Relationship Id="rId7" Type="http://schemas.openxmlformats.org/officeDocument/2006/relationships/image" Target="../media/image67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6.png"/><Relationship Id="rId5" Type="http://schemas.openxmlformats.org/officeDocument/2006/relationships/image" Target="../media/image65.png"/><Relationship Id="rId4" Type="http://schemas.openxmlformats.org/officeDocument/2006/relationships/image" Target="../media/image3.png"/><Relationship Id="rId9" Type="http://schemas.openxmlformats.org/officeDocument/2006/relationships/image" Target="../media/image6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207224"/>
            <a:ext cx="9803948" cy="1733266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6419850"/>
            <a:ext cx="11049000" cy="2476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2034182"/>
            <a:ext cx="8901112" cy="5914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657"/>
              </a:lnSpc>
            </a:pPr>
            <a:r>
              <a:rPr sz="4050" b="1" i="0" u="none">
                <a:solidFill>
                  <a:srgbClr val="0F172A"/>
                </a:solidFill>
                <a:latin typeface="Poppins"/>
              </a:rPr>
              <a:t>Bike Sharing </a:t>
            </a:r>
            <a:r>
              <a:rPr sz="4050" b="1" i="0" u="none">
                <a:solidFill>
                  <a:srgbClr val="0D9488"/>
                </a:solidFill>
                <a:latin typeface="Poppins"/>
              </a:rPr>
              <a:t>Demand Prediction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6524625"/>
            <a:ext cx="162877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Inter"/>
              </a:rPr>
              <a:t>Bike Sharing Analytics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77600" y="6524625"/>
            <a:ext cx="34290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Inter"/>
              </a:rPr>
              <a:t>Slide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5825" y="3568600"/>
            <a:ext cx="8991123" cy="215444"/>
          </a:xfrm>
          <a:prstGeom prst="rect">
            <a:avLst/>
          </a:prstGeom>
          <a:noFill/>
        </p:spPr>
        <p:txBody>
          <a:bodyPr wrap="square" lIns="152400" tIns="0" rIns="0" bIns="0" anchor="t">
            <a:spAutoFit/>
          </a:bodyPr>
          <a:lstStyle/>
          <a:p>
            <a:pPr algn="l"/>
            <a:r>
              <a:rPr sz="1400" b="1" i="0" u="none" dirty="0">
                <a:solidFill>
                  <a:srgbClr val="0D9488"/>
                </a:solidFill>
                <a:latin typeface="Book Antiqua" panose="02040602050305030304" pitchFamily="18" charset="0"/>
              </a:rPr>
              <a:t>EXECUTIVE SUMMARY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5825" y="3863875"/>
            <a:ext cx="8562975" cy="731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400" b="0" i="0" u="none" dirty="0">
                <a:solidFill>
                  <a:srgbClr val="3341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Leveraging 2 years of operational data (730 observations), we constructed an end-to-end Machine Learning pipeline to accurately forecast daily rental counts (</a:t>
            </a:r>
            <a:r>
              <a:rPr sz="1400" b="0" i="0" u="none" dirty="0" err="1">
                <a:solidFill>
                  <a:srgbClr val="3341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cnt</a:t>
            </a:r>
            <a:r>
              <a:rPr sz="1400" b="0" i="0" u="none" dirty="0">
                <a:solidFill>
                  <a:srgbClr val="3341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 By engineering domain-specific date extractions and evaluating linear and non-linear regression architectures, we optimized fleet deployment and bike availability.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15" y="3562066"/>
            <a:ext cx="200010" cy="18750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033587"/>
            <a:ext cx="5334000" cy="18669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4090987"/>
            <a:ext cx="5334000" cy="15621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6500" y="2033587"/>
            <a:ext cx="5334000" cy="36195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6419850"/>
            <a:ext cx="11049000" cy="2476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1500" y="476250"/>
            <a:ext cx="605075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oppins"/>
              </a:rPr>
              <a:t>Operational Challenges &amp; ML Solution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70740" y="590550"/>
            <a:ext cx="1649759" cy="228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71500" y="6524625"/>
            <a:ext cx="162877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Inter"/>
              </a:rPr>
              <a:t>Bike Sharing Analytics Project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58550" y="6524625"/>
            <a:ext cx="3619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Inter"/>
              </a:rPr>
              <a:t>Slide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5375" y="2271712"/>
            <a:ext cx="4800600" cy="2857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oppins"/>
              </a:rPr>
              <a:t>The Core Challenge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625" y="2671762"/>
            <a:ext cx="48577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 dirty="0">
                <a:solidFill>
                  <a:srgbClr val="475569"/>
                </a:solidFill>
                <a:latin typeface="Inter"/>
              </a:rPr>
              <a:t>Over-allocation:</a:t>
            </a:r>
            <a:r>
              <a:rPr sz="1200" b="0" i="0" u="none" dirty="0">
                <a:solidFill>
                  <a:srgbClr val="475569"/>
                </a:solidFill>
                <a:latin typeface="Inter"/>
              </a:rPr>
              <a:t> Excess bikes at stations inflate maintenance costs, increase damage risks, and tie up capital inefficiently.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625" y="3205162"/>
            <a:ext cx="48577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 dirty="0">
                <a:solidFill>
                  <a:srgbClr val="475569"/>
                </a:solidFill>
                <a:latin typeface="Inter"/>
              </a:rPr>
              <a:t>Under-allocation:</a:t>
            </a:r>
            <a:r>
              <a:rPr sz="1200" b="0" i="0" u="none" dirty="0">
                <a:solidFill>
                  <a:srgbClr val="475569"/>
                </a:solidFill>
                <a:latin typeface="Inter"/>
              </a:rPr>
              <a:t> Station shortfalls cause lost revenue and severe customer dissatisfaction during peak commute hours.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5375" y="4329112"/>
            <a:ext cx="4800600" cy="2857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oppins"/>
              </a:rPr>
              <a:t>ML Solution &amp; Business Goal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625" y="4729162"/>
            <a:ext cx="485775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 dirty="0">
                <a:solidFill>
                  <a:srgbClr val="475569"/>
                </a:solidFill>
                <a:latin typeface="Inter"/>
              </a:rPr>
              <a:t>Predict total daily rentals (</a:t>
            </a:r>
            <a:r>
              <a:rPr sz="1200" b="0" i="0" u="none" dirty="0" err="1">
                <a:solidFill>
                  <a:srgbClr val="475569"/>
                </a:solidFill>
                <a:latin typeface="Inter"/>
              </a:rPr>
              <a:t>cnt</a:t>
            </a:r>
            <a:r>
              <a:rPr sz="1200" b="0" i="0" u="none" dirty="0">
                <a:solidFill>
                  <a:srgbClr val="475569"/>
                </a:solidFill>
                <a:latin typeface="Inter"/>
              </a:rPr>
              <a:t>) with minimal error ( ) so operations teams can dynamically balance fleet distribution and optimize staff deployment.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96025" y="2043112"/>
            <a:ext cx="5314950" cy="36004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9625" y="2319337"/>
            <a:ext cx="190500" cy="1905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9625" y="4376737"/>
            <a:ext cx="190500" cy="1905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6419850"/>
            <a:ext cx="11049000" cy="2476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476250"/>
            <a:ext cx="519564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oppins"/>
              </a:rPr>
              <a:t>Dataset Overview &amp; Key Schema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3555" y="590550"/>
            <a:ext cx="1746944" cy="228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029075" y="1885950"/>
            <a:ext cx="7591425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334155"/>
                </a:solidFill>
                <a:latin typeface="Inter Medium"/>
              </a:rPr>
              <a:t> </a:t>
            </a:r>
            <a:r>
              <a:rPr sz="1050" b="1" i="0" u="none">
                <a:solidFill>
                  <a:srgbClr val="334155"/>
                </a:solidFill>
                <a:latin typeface="Inter"/>
              </a:rPr>
              <a:t>Observations:</a:t>
            </a:r>
            <a:r>
              <a:rPr sz="1050" b="0" i="0" u="none">
                <a:solidFill>
                  <a:srgbClr val="334155"/>
                </a:solidFill>
                <a:latin typeface="Inter Medium"/>
              </a:rPr>
              <a:t> 730 Daily Records (2 Full Years)  </a:t>
            </a:r>
            <a:r>
              <a:rPr sz="1050" b="1" i="0" u="none">
                <a:solidFill>
                  <a:srgbClr val="334155"/>
                </a:solidFill>
                <a:latin typeface="Inter"/>
              </a:rPr>
              <a:t>Features:</a:t>
            </a:r>
            <a:r>
              <a:rPr sz="1050" b="0" i="0" u="none">
                <a:solidFill>
                  <a:srgbClr val="334155"/>
                </a:solidFill>
                <a:latin typeface="Inter Medium"/>
              </a:rPr>
              <a:t> 16 Raw Columns  </a:t>
            </a:r>
            <a:r>
              <a:rPr sz="1050" b="1" i="0" u="none">
                <a:solidFill>
                  <a:srgbClr val="334155"/>
                </a:solidFill>
                <a:latin typeface="Inter"/>
              </a:rPr>
              <a:t>Timeframe:</a:t>
            </a:r>
            <a:r>
              <a:rPr sz="1050" b="0" i="0" u="none">
                <a:solidFill>
                  <a:srgbClr val="334155"/>
                </a:solidFill>
                <a:latin typeface="Inter Medium"/>
              </a:rPr>
              <a:t> 2018 – 2019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0220764"/>
              </p:ext>
            </p:extLst>
          </p:nvPr>
        </p:nvGraphicFramePr>
        <p:xfrm>
          <a:off x="571500" y="2162175"/>
          <a:ext cx="11029949" cy="36385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6645"/>
                <a:gridCol w="6427589"/>
                <a:gridCol w="1915715"/>
              </a:tblGrid>
              <a:tr h="404283">
                <a:tc>
                  <a:txBody>
                    <a:bodyPr/>
                    <a:lstStyle/>
                    <a:p>
                      <a:pPr algn="l"/>
                      <a:r>
                        <a:rPr sz="1050" b="0" i="0" u="none" dirty="0">
                          <a:solidFill>
                            <a:srgbClr val="FFFFFF"/>
                          </a:solidFill>
                          <a:latin typeface="Poppins SemiBold"/>
                        </a:rPr>
                        <a:t>Feature Name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Description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Type / Scale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404283"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Inter"/>
                        </a:rPr>
                        <a:t>instant / dteday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Inter"/>
                        </a:rPr>
                        <a:t>Record index &amp; raw date string (YYYY-MM-DD)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Integer / Date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04283"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Inter"/>
                        </a:rPr>
                        <a:t>season / weathersit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Season code (</a:t>
                      </a:r>
                      <a:r>
                        <a:rPr sz="1050" b="0" i="0" u="none" dirty="0" smtClean="0">
                          <a:solidFill>
                            <a:srgbClr val="334155"/>
                          </a:solidFill>
                          <a:latin typeface="Inter"/>
                        </a:rPr>
                        <a:t>1-spring</a:t>
                      </a:r>
                      <a:r>
                        <a:rPr sz="1050" b="0" i="0" u="none" baseline="0" dirty="0" smtClean="0">
                          <a:solidFill>
                            <a:srgbClr val="334155"/>
                          </a:solidFill>
                          <a:latin typeface="Inter"/>
                        </a:rPr>
                        <a:t>, 2-summer, 3-fall, </a:t>
                      </a:r>
                      <a:r>
                        <a:rPr sz="1050" b="0" i="0" u="none" dirty="0" smtClean="0">
                          <a:solidFill>
                            <a:srgbClr val="334155"/>
                          </a:solidFill>
                          <a:latin typeface="Inter"/>
                        </a:rPr>
                        <a:t>4-winter) </a:t>
                      </a:r>
                      <a:r>
                        <a:rPr sz="1050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&amp; </a:t>
                      </a:r>
                      <a:endParaRPr sz="1050" b="0" i="0" u="none" dirty="0" smtClean="0">
                        <a:solidFill>
                          <a:srgbClr val="334155"/>
                        </a:solidFill>
                        <a:latin typeface="Inter"/>
                      </a:endParaRPr>
                    </a:p>
                    <a:p>
                      <a:pPr algn="l"/>
                      <a:r>
                        <a:rPr sz="1050" b="0" i="0" u="none" dirty="0" smtClean="0">
                          <a:solidFill>
                            <a:srgbClr val="334155"/>
                          </a:solidFill>
                          <a:latin typeface="Inter"/>
                        </a:rPr>
                        <a:t>Weather </a:t>
                      </a:r>
                      <a:r>
                        <a:rPr sz="1050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condition (1: Clear, 2: </a:t>
                      </a:r>
                      <a:r>
                        <a:rPr sz="1050" b="0" i="0" u="none" dirty="0" smtClean="0">
                          <a:solidFill>
                            <a:srgbClr val="334155"/>
                          </a:solidFill>
                          <a:latin typeface="Inter"/>
                        </a:rPr>
                        <a:t>Mist/Cloudy, </a:t>
                      </a:r>
                      <a:r>
                        <a:rPr sz="1050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3: Rain/Snow)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 dirty="0" smtClean="0">
                          <a:solidFill>
                            <a:srgbClr val="334155"/>
                          </a:solidFill>
                          <a:latin typeface="Inter"/>
                        </a:rPr>
                        <a:t>Integer</a:t>
                      </a:r>
                      <a:endParaRPr sz="1050" b="0" i="0" u="none" dirty="0">
                        <a:solidFill>
                          <a:srgbClr val="334155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404283">
                <a:tc>
                  <a:txBody>
                    <a:bodyPr/>
                    <a:lstStyle/>
                    <a:p>
                      <a:pPr algn="l"/>
                      <a:r>
                        <a:rPr sz="1050" b="0" i="0" u="none" dirty="0" err="1">
                          <a:solidFill>
                            <a:srgbClr val="334155"/>
                          </a:solidFill>
                          <a:latin typeface="Inter"/>
                        </a:rPr>
                        <a:t>yr</a:t>
                      </a:r>
                      <a:r>
                        <a:rPr sz="1050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 / </a:t>
                      </a:r>
                      <a:r>
                        <a:rPr sz="1050" b="0" i="0" u="none" dirty="0" err="1">
                          <a:solidFill>
                            <a:srgbClr val="334155"/>
                          </a:solidFill>
                          <a:latin typeface="Inter"/>
                        </a:rPr>
                        <a:t>mnth</a:t>
                      </a:r>
                      <a:endParaRPr sz="1050" b="0" i="0" u="none" dirty="0">
                        <a:solidFill>
                          <a:srgbClr val="334155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Year binary (0: 2018, 1: 2019) &amp; Month (1–12)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Binary / Integer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04283"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Inter"/>
                        </a:rPr>
                        <a:t>holiday / workingday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Inter"/>
                        </a:rPr>
                        <a:t>Official holiday flag &amp; non-weekend/non-holiday flag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Binary (0 or 1)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404283"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Inter"/>
                        </a:rPr>
                        <a:t>temp / atemp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Inter"/>
                        </a:rPr>
                        <a:t>Normalized actual temperature &amp; feeling temperature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Inter"/>
                        </a:rPr>
                        <a:t>Continuous [0, 1]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04283"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Inter"/>
                        </a:rPr>
                        <a:t>hum / windspeed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Inter"/>
                        </a:rPr>
                        <a:t>Normalized humidity &amp; wind speed values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Inter"/>
                        </a:rPr>
                        <a:t>Continuous [0, 1]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404283"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Inter"/>
                        </a:rPr>
                        <a:t>casual / registered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Non-registered user rentals &amp; registered user rentals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Inter"/>
                        </a:rPr>
                        <a:t>Integer Counts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04286"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Inter"/>
                        </a:rPr>
                        <a:t>cnt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334155"/>
                          </a:solidFill>
                          <a:latin typeface="Inter"/>
                        </a:rPr>
                        <a:t>Target Variable:</a:t>
                      </a:r>
                      <a:r>
                        <a:rPr sz="1050" b="0" i="0" u="none">
                          <a:solidFill>
                            <a:srgbClr val="334155"/>
                          </a:solidFill>
                          <a:latin typeface="Inter"/>
                        </a:rPr>
                        <a:t> Total Daily Bike Rentals (casual + registered)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Target Count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71500" y="6524625"/>
            <a:ext cx="162877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Inter"/>
              </a:rPr>
              <a:t>Bike Sharing Analytics Project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58550" y="6524625"/>
            <a:ext cx="3619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Inter"/>
              </a:rPr>
              <a:t>Slide 3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905000"/>
            <a:ext cx="114300" cy="1333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95725" y="1905000"/>
            <a:ext cx="133350" cy="1333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81725" y="1905000"/>
            <a:ext cx="114300" cy="13335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581025" y="2990850"/>
            <a:ext cx="268664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267670" y="2990850"/>
            <a:ext cx="642758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9695259" y="2990850"/>
            <a:ext cx="191571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81025" y="3390900"/>
            <a:ext cx="268664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267670" y="3390900"/>
            <a:ext cx="642758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9695259" y="3390900"/>
            <a:ext cx="191571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81025" y="3790950"/>
            <a:ext cx="268664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267670" y="3790950"/>
            <a:ext cx="642758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695259" y="3790950"/>
            <a:ext cx="191571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81025" y="4191000"/>
            <a:ext cx="268664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267670" y="4191000"/>
            <a:ext cx="642758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695259" y="4191000"/>
            <a:ext cx="191571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81025" y="4591050"/>
            <a:ext cx="268664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267670" y="4591050"/>
            <a:ext cx="642758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695259" y="4591050"/>
            <a:ext cx="191571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81025" y="4991100"/>
            <a:ext cx="268664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3267670" y="4991100"/>
            <a:ext cx="642758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9695259" y="4991100"/>
            <a:ext cx="191571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81025" y="5391150"/>
            <a:ext cx="268664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3267670" y="5391150"/>
            <a:ext cx="642758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9695259" y="5391150"/>
            <a:ext cx="191571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52334" y="2705100"/>
            <a:ext cx="542925" cy="180975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761934" y="2705100"/>
            <a:ext cx="409575" cy="180975"/>
          </a:xfrm>
          <a:prstGeom prst="rect">
            <a:avLst/>
          </a:prstGeom>
        </p:spPr>
      </p:pic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720064" y="3481387"/>
            <a:ext cx="1000125" cy="180975"/>
          </a:xfrm>
          <a:prstGeom prst="rect">
            <a:avLst/>
          </a:prstGeom>
        </p:spPr>
      </p:pic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854659" y="3924300"/>
            <a:ext cx="904875" cy="180975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686727" y="4305300"/>
            <a:ext cx="1066800" cy="180975"/>
          </a:xfrm>
          <a:prstGeom prst="rect">
            <a:avLst/>
          </a:prstGeom>
        </p:spPr>
      </p:pic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628459" y="4690991"/>
            <a:ext cx="1066800" cy="180975"/>
          </a:xfrm>
          <a:prstGeom prst="rect">
            <a:avLst/>
          </a:prstGeom>
        </p:spPr>
      </p:pic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646973" y="5105400"/>
            <a:ext cx="962025" cy="180975"/>
          </a:xfrm>
          <a:prstGeom prst="rect">
            <a:avLst/>
          </a:prstGeom>
        </p:spPr>
      </p:pic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797987" y="5529262"/>
            <a:ext cx="866775" cy="180975"/>
          </a:xfrm>
          <a:prstGeom prst="rect">
            <a:avLst/>
          </a:prstGeom>
        </p:spPr>
      </p:pic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66073" y="3090791"/>
            <a:ext cx="542925" cy="1809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96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269331"/>
            <a:ext cx="5334000" cy="314801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269331"/>
            <a:ext cx="5334000" cy="314801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6419850"/>
            <a:ext cx="11049000" cy="2476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" y="476250"/>
            <a:ext cx="439554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oppins"/>
              </a:rPr>
              <a:t>Key Architectural Decisions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83030" y="590550"/>
            <a:ext cx="2137469" cy="228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1500" y="6524625"/>
            <a:ext cx="162877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Inter"/>
              </a:rPr>
              <a:t>Bike Sharing Analytics Project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9025" y="6524625"/>
            <a:ext cx="37147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Inter"/>
              </a:rPr>
              <a:t>Slide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5375" y="2507456"/>
            <a:ext cx="4800600" cy="2857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oppins"/>
              </a:rPr>
              <a:t>Why Normalized Temperature &amp; Humidity?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19875" y="2507456"/>
            <a:ext cx="5000625" cy="2857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oppins"/>
              </a:rPr>
              <a:t>Why Extract yr &amp; mnth Separately?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9625" y="2555081"/>
            <a:ext cx="190500" cy="1905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76325" y="2907506"/>
            <a:ext cx="4591050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 dirty="0">
                <a:solidFill>
                  <a:srgbClr val="475569"/>
                </a:solidFill>
                <a:latin typeface="Inter"/>
              </a:rPr>
              <a:t>Equal Optimization Weight:</a:t>
            </a:r>
            <a:r>
              <a:rPr sz="1125" b="0" i="0" u="none" dirty="0">
                <a:solidFill>
                  <a:srgbClr val="475569"/>
                </a:solidFill>
                <a:latin typeface="Inter"/>
              </a:rPr>
              <a:t> Raw scales differ drastically (Humidity 0–100%, Temp 0–35°C, Wind 0–34 km/h). Normalization prevents distance-based algorithms (SVR, Linear Models) from favoring large-magnitude scale features.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6325" y="3879056"/>
            <a:ext cx="459105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475569"/>
                </a:solidFill>
                <a:latin typeface="Inter"/>
              </a:rPr>
              <a:t>Faster Gradient Convergence:</a:t>
            </a:r>
            <a:r>
              <a:rPr sz="1125" b="0" i="0" u="none">
                <a:solidFill>
                  <a:srgbClr val="475569"/>
                </a:solidFill>
                <a:latin typeface="Inter"/>
              </a:rPr>
              <a:t> Bounding numeric inputs between [0, 1] smooths the error surface during model estimation.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6325" y="4421981"/>
            <a:ext cx="459105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475569"/>
                </a:solidFill>
                <a:latin typeface="Inter"/>
              </a:rPr>
              <a:t>Web Input Consistency:</a:t>
            </a:r>
            <a:r>
              <a:rPr sz="1125" b="0" i="0" u="none">
                <a:solidFill>
                  <a:srgbClr val="475569"/>
                </a:solidFill>
                <a:latin typeface="Inter"/>
              </a:rPr>
              <a:t> Exposing normalized sliders directly aligns user inputs with model parameters.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91325" y="3098005"/>
            <a:ext cx="4591050" cy="10715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 dirty="0">
                <a:solidFill>
                  <a:srgbClr val="475569"/>
                </a:solidFill>
                <a:latin typeface="Inter"/>
              </a:rPr>
              <a:t>Macro Growth vs. Seasonal Cycles:</a:t>
            </a:r>
            <a:r>
              <a:rPr sz="1125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dirty="0"/>
              <a:t>
</a:t>
            </a:r>
            <a:r>
              <a:rPr sz="1125" b="0" i="0" u="none" dirty="0">
                <a:solidFill>
                  <a:srgbClr val="475569"/>
                </a:solidFill>
                <a:latin typeface="Inter"/>
              </a:rPr>
              <a:t> • </a:t>
            </a:r>
            <a:r>
              <a:rPr sz="1125" b="0" i="0" u="none" dirty="0" err="1">
                <a:solidFill>
                  <a:srgbClr val="475569"/>
                </a:solidFill>
                <a:latin typeface="Inter"/>
              </a:rPr>
              <a:t>yr</a:t>
            </a:r>
            <a:r>
              <a:rPr sz="1125" b="0" i="0" u="none" dirty="0">
                <a:solidFill>
                  <a:srgbClr val="475569"/>
                </a:solidFill>
                <a:latin typeface="Inter"/>
              </a:rPr>
              <a:t> (0 = 2018, 1 = 2019): Captures annual baseline adoption and service expansion. </a:t>
            </a:r>
            <a:r>
              <a:rPr dirty="0"/>
              <a:t>
</a:t>
            </a:r>
            <a:r>
              <a:rPr sz="1125" b="0" i="0" u="none" dirty="0">
                <a:solidFill>
                  <a:srgbClr val="475569"/>
                </a:solidFill>
                <a:latin typeface="Inter"/>
              </a:rPr>
              <a:t> • </a:t>
            </a:r>
            <a:r>
              <a:rPr sz="1125" b="0" i="0" u="none" dirty="0" err="1">
                <a:solidFill>
                  <a:srgbClr val="475569"/>
                </a:solidFill>
                <a:latin typeface="Inter"/>
              </a:rPr>
              <a:t>mnth</a:t>
            </a:r>
            <a:r>
              <a:rPr sz="1125" b="0" i="0" u="none" dirty="0">
                <a:solidFill>
                  <a:srgbClr val="475569"/>
                </a:solidFill>
                <a:latin typeface="Inter"/>
              </a:rPr>
              <a:t> (1–12): Captures recurring annual weather waves and seasonal demand shifts.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91325" y="4636293"/>
            <a:ext cx="459105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 dirty="0">
                <a:solidFill>
                  <a:srgbClr val="475569"/>
                </a:solidFill>
                <a:latin typeface="Inter"/>
              </a:rPr>
              <a:t>Independent Signal Isolation:</a:t>
            </a:r>
            <a:r>
              <a:rPr sz="1125" b="0" i="0" u="none" dirty="0">
                <a:solidFill>
                  <a:srgbClr val="475569"/>
                </a:solidFill>
                <a:latin typeface="Inter"/>
              </a:rPr>
              <a:t> Separates linear macro expansion from periodic monthly seasonality.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9625" y="2926556"/>
            <a:ext cx="114300" cy="14287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9625" y="3898106"/>
            <a:ext cx="114300" cy="14287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9625" y="4441031"/>
            <a:ext cx="114300" cy="142875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24625" y="3141935"/>
            <a:ext cx="114300" cy="142875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24625" y="4655343"/>
            <a:ext cx="114300" cy="1428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95462"/>
            <a:ext cx="5334000" cy="18478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795712"/>
            <a:ext cx="5334000" cy="20955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6500" y="3343275"/>
            <a:ext cx="5334000" cy="1295251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6419850"/>
            <a:ext cx="11049000" cy="2476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1500" y="476250"/>
            <a:ext cx="5445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oppins"/>
              </a:rPr>
              <a:t>Data Cleaning &amp; Feature Selection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59330" y="590550"/>
            <a:ext cx="1261169" cy="228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71500" y="6524625"/>
            <a:ext cx="162877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Inter"/>
              </a:rPr>
              <a:t>Bike Sharing Analytics Project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58550" y="6524625"/>
            <a:ext cx="3619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Inter"/>
              </a:rPr>
              <a:t>Slide 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86500" y="3048000"/>
            <a:ext cx="53340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0F172A"/>
                </a:solidFill>
                <a:latin typeface="Inter SemiBold"/>
              </a:rPr>
              <a:t>Feature Dropping Implementation: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5375" y="2033587"/>
            <a:ext cx="4800600" cy="2857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oppins"/>
              </a:rPr>
              <a:t>Quality Assurance Verification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625" y="2433637"/>
            <a:ext cx="48577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475569"/>
                </a:solidFill>
                <a:latin typeface="Inter"/>
              </a:rPr>
              <a:t>Missing Values:</a:t>
            </a:r>
            <a:r>
              <a:rPr sz="1200" b="0" i="0" u="none">
                <a:solidFill>
                  <a:srgbClr val="475569"/>
                </a:solidFill>
                <a:latin typeface="Inter"/>
              </a:rPr>
              <a:t> Exact count of 0 missing values across all 730 records.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625" y="2947987"/>
            <a:ext cx="48577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475569"/>
                </a:solidFill>
                <a:latin typeface="Inter"/>
              </a:rPr>
              <a:t>Type Validation:</a:t>
            </a:r>
            <a:r>
              <a:rPr sz="1200" b="0" i="0" u="none">
                <a:solidFill>
                  <a:srgbClr val="475569"/>
                </a:solidFill>
                <a:latin typeface="Inter"/>
              </a:rPr>
              <a:t> Converted all numeric flags to integer schemas and verified physical bounds for continuous parameters.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3950" y="4033837"/>
            <a:ext cx="4770596" cy="2857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oppins"/>
              </a:rPr>
              <a:t>Dropped Features Rationale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625" y="4433887"/>
            <a:ext cx="485775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casual &amp; registered: </a:t>
            </a:r>
            <a:r>
              <a:rPr sz="1200" b="0" i="0" u="none">
                <a:solidFill>
                  <a:srgbClr val="0D9488"/>
                </a:solidFill>
                <a:latin typeface="Inter SemiBold"/>
              </a:rPr>
              <a:t>STRICT DATA LEAKAGE</a:t>
            </a:r>
            <a:r>
              <a:rPr sz="1200" b="0" i="0" u="none">
                <a:solidFill>
                  <a:srgbClr val="475569"/>
                </a:solidFill>
                <a:latin typeface="Inter"/>
              </a:rPr>
              <a:t>. Since cnt = casual + registered, keeping them produces trivial 100% training accuracy but fails at inference when breakdowns are unknown.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625" y="5195887"/>
            <a:ext cx="48577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instant &amp; dteday: Dropped to prevent learning arbitrary sequence indexes or redundant raw date formats.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9625" y="2081212"/>
            <a:ext cx="190500" cy="1905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9625" y="4081462"/>
            <a:ext cx="219075" cy="1905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588293"/>
            <a:ext cx="5334000" cy="102393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745581"/>
            <a:ext cx="5334000" cy="102393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902868"/>
            <a:ext cx="5334000" cy="10382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5074443"/>
            <a:ext cx="5334000" cy="1023937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6419850"/>
            <a:ext cx="11049000" cy="2476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71500" y="476250"/>
            <a:ext cx="4185523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oppins"/>
              </a:rPr>
              <a:t>Exploratory Data Analysis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00245" y="590550"/>
            <a:ext cx="1320254" cy="2286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71500" y="6524625"/>
            <a:ext cx="162877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Inter"/>
              </a:rPr>
              <a:t>Bike Sharing Analytics Project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58550" y="6524625"/>
            <a:ext cx="3619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Inter"/>
              </a:rPr>
              <a:t>Slide 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1525" y="1750218"/>
            <a:ext cx="5180647" cy="238125"/>
          </a:xfrm>
          <a:prstGeom prst="rect">
            <a:avLst/>
          </a:prstGeom>
          <a:noFill/>
        </p:spPr>
        <p:txBody>
          <a:bodyPr wrap="square" lIns="13335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oppins"/>
              </a:rPr>
              <a:t>Target Distribution (cnt)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1525" y="2064543"/>
            <a:ext cx="4933950" cy="3857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18"/>
              </a:lnSpc>
            </a:pPr>
            <a:r>
              <a:rPr sz="1070" b="0" i="0" u="none" dirty="0">
                <a:solidFill>
                  <a:srgbClr val="64748B"/>
                </a:solidFill>
                <a:latin typeface="Inter"/>
              </a:rPr>
              <a:t>Near-normal distribution centered at a mean of </a:t>
            </a:r>
            <a:r>
              <a:rPr sz="1070" b="1" i="0" u="none" dirty="0">
                <a:solidFill>
                  <a:srgbClr val="64748B"/>
                </a:solidFill>
                <a:latin typeface="Inter"/>
              </a:rPr>
              <a:t>4,508 daily rentals</a:t>
            </a:r>
            <a:r>
              <a:rPr sz="1070" b="0" i="0" u="none" dirty="0">
                <a:solidFill>
                  <a:srgbClr val="64748B"/>
                </a:solidFill>
                <a:latin typeface="Inter"/>
              </a:rPr>
              <a:t> (ranging from a minimum of 22 to a peak of 8,714).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1525" y="2907506"/>
            <a:ext cx="5180647" cy="238125"/>
          </a:xfrm>
          <a:prstGeom prst="rect">
            <a:avLst/>
          </a:prstGeom>
          <a:noFill/>
        </p:spPr>
        <p:txBody>
          <a:bodyPr wrap="square" lIns="17145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oppins"/>
              </a:rPr>
              <a:t>Year-over-Year Growth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1525" y="3221831"/>
            <a:ext cx="4933950" cy="3857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18"/>
              </a:lnSpc>
            </a:pPr>
            <a:r>
              <a:rPr sz="1070" b="0" i="0" u="none" dirty="0">
                <a:solidFill>
                  <a:srgbClr val="64748B"/>
                </a:solidFill>
                <a:latin typeface="Inter"/>
              </a:rPr>
              <a:t>2019 (Year 1) exhibits a strong upward shift across every month compared to 2018 (Year 0), confirming robust service expansion.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1525" y="4064793"/>
            <a:ext cx="5180647" cy="238125"/>
          </a:xfrm>
          <a:prstGeom prst="rect">
            <a:avLst/>
          </a:prstGeom>
          <a:noFill/>
        </p:spPr>
        <p:txBody>
          <a:bodyPr wrap="square" lIns="19050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oppins"/>
              </a:rPr>
              <a:t>Weather Impact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1525" y="4379118"/>
            <a:ext cx="49339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18"/>
              </a:lnSpc>
            </a:pPr>
            <a:r>
              <a:rPr sz="1070" b="0" i="0" u="none" dirty="0">
                <a:solidFill>
                  <a:srgbClr val="64748B"/>
                </a:solidFill>
                <a:latin typeface="Inter"/>
              </a:rPr>
              <a:t>Clear weather (</a:t>
            </a:r>
            <a:r>
              <a:rPr sz="1070" b="0" i="0" u="none" dirty="0" err="1">
                <a:solidFill>
                  <a:srgbClr val="64748B"/>
                </a:solidFill>
                <a:latin typeface="Inter"/>
              </a:rPr>
              <a:t>weathersit</a:t>
            </a:r>
            <a:r>
              <a:rPr sz="1070" b="0" i="0" u="none" dirty="0">
                <a:solidFill>
                  <a:srgbClr val="64748B"/>
                </a:solidFill>
                <a:latin typeface="Inter"/>
              </a:rPr>
              <a:t>=1) averages </a:t>
            </a:r>
            <a:r>
              <a:rPr sz="1070" b="1" i="0" u="none" dirty="0">
                <a:solidFill>
                  <a:srgbClr val="64748B"/>
                </a:solidFill>
                <a:latin typeface="Inter"/>
              </a:rPr>
              <a:t>~4,877 rentals</a:t>
            </a:r>
            <a:r>
              <a:rPr sz="1070" b="0" i="0" u="none" dirty="0">
                <a:solidFill>
                  <a:srgbClr val="64748B"/>
                </a:solidFill>
                <a:latin typeface="Inter"/>
              </a:rPr>
              <a:t>, dropping sharply during light snow/rain (</a:t>
            </a:r>
            <a:r>
              <a:rPr sz="1070" b="0" i="0" u="none" dirty="0" err="1">
                <a:solidFill>
                  <a:srgbClr val="64748B"/>
                </a:solidFill>
                <a:latin typeface="Inter"/>
              </a:rPr>
              <a:t>weathersit</a:t>
            </a:r>
            <a:r>
              <a:rPr sz="1070" b="0" i="0" u="none" dirty="0">
                <a:solidFill>
                  <a:srgbClr val="64748B"/>
                </a:solidFill>
                <a:latin typeface="Inter"/>
              </a:rPr>
              <a:t>=3) to </a:t>
            </a:r>
            <a:r>
              <a:rPr sz="1070" b="1" i="0" u="none" dirty="0">
                <a:solidFill>
                  <a:srgbClr val="64748B"/>
                </a:solidFill>
                <a:latin typeface="Inter"/>
              </a:rPr>
              <a:t>~1,803 rentals</a:t>
            </a:r>
            <a:r>
              <a:rPr sz="1070" b="0" i="0" u="none" dirty="0">
                <a:solidFill>
                  <a:srgbClr val="64748B"/>
                </a:solidFill>
                <a:latin typeface="Inter"/>
              </a:rPr>
              <a:t>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1525" y="5236368"/>
            <a:ext cx="5180647" cy="238125"/>
          </a:xfrm>
          <a:prstGeom prst="rect">
            <a:avLst/>
          </a:prstGeom>
          <a:noFill/>
        </p:spPr>
        <p:txBody>
          <a:bodyPr wrap="square" lIns="15240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oppins"/>
              </a:rPr>
              <a:t>Temperature Effect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1525" y="5550693"/>
            <a:ext cx="4933950" cy="3857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18"/>
              </a:lnSpc>
            </a:pPr>
            <a:r>
              <a:rPr sz="1070" b="0" i="0" u="none" dirty="0">
                <a:solidFill>
                  <a:srgbClr val="64748B"/>
                </a:solidFill>
                <a:latin typeface="Inter"/>
              </a:rPr>
              <a:t>Strong positive correlation with daily demand, peaking around 25–30°C before plateauing at extreme heat levels.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1525" y="1788318"/>
            <a:ext cx="133350" cy="15240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1525" y="2945606"/>
            <a:ext cx="171450" cy="15240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71525" y="4102893"/>
            <a:ext cx="190500" cy="15240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71525" y="5274468"/>
            <a:ext cx="152400" cy="152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EXPLORATORY DATA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Rental distribution &amp; trend over time</a:t>
            </a:r>
            <a:endParaRPr lang="en-US" sz="3200" dirty="0"/>
          </a:p>
        </p:txBody>
      </p:sp>
      <p:pic>
        <p:nvPicPr>
          <p:cNvPr id="4" name="Image 0" descr="/home/claude/group5_bike_sharing/outputs/01_target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91640"/>
            <a:ext cx="5394960" cy="3474720"/>
          </a:xfrm>
          <a:prstGeom prst="rect">
            <a:avLst/>
          </a:prstGeom>
        </p:spPr>
      </p:pic>
      <p:pic>
        <p:nvPicPr>
          <p:cNvPr id="5" name="Image 1" descr="/home/claude/group5_bike_sharing/outputs/05_time_tren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5079" y="1691640"/>
            <a:ext cx="5486400" cy="22860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172200" y="411480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2012 rentals clearly exceed 2011 — steady platform growth alongside seasonal cycles.</a:t>
            </a:r>
            <a:endParaRPr lang="en-US" sz="1300" dirty="0"/>
          </a:p>
        </p:txBody>
      </p:sp>
      <p:sp>
        <p:nvSpPr>
          <p:cNvPr id="7" name="Text 3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5A5"/>
                </a:solidFill>
              </a:rPr>
              <a:t>5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7577120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EXPLORATORY DATA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by season, weather, and month</a:t>
            </a:r>
            <a:endParaRPr lang="en-US" sz="3200" dirty="0"/>
          </a:p>
        </p:txBody>
      </p:sp>
      <p:pic>
        <p:nvPicPr>
          <p:cNvPr id="4" name="Image 0" descr="/home/claude/group5_bike_sharing/outputs/02_boxplo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4901" y="1424687"/>
            <a:ext cx="8817819" cy="493039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5A5"/>
                </a:solidFill>
              </a:rPr>
              <a:t>6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42895680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EXPLORATORY DATA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drives rental demand?</a:t>
            </a:r>
            <a:endParaRPr lang="en-US" sz="3200" dirty="0"/>
          </a:p>
        </p:txBody>
      </p:sp>
      <p:pic>
        <p:nvPicPr>
          <p:cNvPr id="4" name="Image 0" descr="/home/claude/group5_bike_sharing/outputs/04_correlation_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1" y="1463040"/>
            <a:ext cx="5811216" cy="4846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858000" y="1920240"/>
            <a:ext cx="51206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 / atemp: strongest positive driver of demand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yr: strong positive — platform grew year over year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 &amp; mnth: clear seasonal demand pattern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weathersit: clear weather boosts rentals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windspeed: mild negative relationship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5A5"/>
                </a:solidFill>
              </a:rPr>
              <a:t>7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2195957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874168"/>
            <a:ext cx="5429250" cy="250031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1250" y="2874168"/>
            <a:ext cx="5429250" cy="250031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6419850"/>
            <a:ext cx="11049000" cy="2476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" y="476250"/>
            <a:ext cx="536567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oppins"/>
              </a:rPr>
              <a:t>Regression Algorithms Evaluated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38270" y="590550"/>
            <a:ext cx="1882229" cy="228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1500" y="2312193"/>
            <a:ext cx="11049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We benchmarked </a:t>
            </a:r>
            <a:r>
              <a:rPr sz="1200" b="1" i="0" u="none">
                <a:solidFill>
                  <a:srgbClr val="475569"/>
                </a:solidFill>
                <a:latin typeface="Inter"/>
              </a:rPr>
              <a:t>8 distinct regression models</a:t>
            </a:r>
            <a:r>
              <a:rPr sz="1200" b="0" i="0" u="none">
                <a:solidFill>
                  <a:srgbClr val="475569"/>
                </a:solidFill>
                <a:latin typeface="Inter"/>
              </a:rPr>
              <a:t> spanning linear, distance-based, and non-linear tree ensemble paradigms: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6524625"/>
            <a:ext cx="162877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Inter"/>
              </a:rPr>
              <a:t>Bike Sharing Analytics Project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58550" y="6524625"/>
            <a:ext cx="3619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Inter"/>
              </a:rPr>
              <a:t>Slide 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9650" y="3083718"/>
            <a:ext cx="5020627" cy="2381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 u="none">
                <a:solidFill>
                  <a:srgbClr val="0D9488"/>
                </a:solidFill>
                <a:latin typeface="Poppins"/>
              </a:rPr>
              <a:t>Linear &amp; Distance-Based Models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67500" y="3083718"/>
            <a:ext cx="4980622" cy="2381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 u="none">
                <a:solidFill>
                  <a:srgbClr val="0D9488"/>
                </a:solidFill>
                <a:latin typeface="Poppins"/>
              </a:rPr>
              <a:t>Tree &amp; Ensemble Models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1050" y="3126581"/>
            <a:ext cx="152400" cy="1524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047750" y="3436143"/>
            <a:ext cx="4743450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475569"/>
                </a:solidFill>
                <a:latin typeface="Inter"/>
              </a:rPr>
              <a:t>Linear Regression:</a:t>
            </a:r>
            <a:r>
              <a:rPr sz="1125" b="0" i="0" u="none">
                <a:solidFill>
                  <a:srgbClr val="475569"/>
                </a:solidFill>
                <a:latin typeface="Inter"/>
              </a:rPr>
              <a:t> OLS baseline benchmark.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7750" y="3764756"/>
            <a:ext cx="4743450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475569"/>
                </a:solidFill>
                <a:latin typeface="Inter"/>
              </a:rPr>
              <a:t>Ridge Regression (L2):</a:t>
            </a:r>
            <a:r>
              <a:rPr sz="1125" b="0" i="0" u="none">
                <a:solidFill>
                  <a:srgbClr val="475569"/>
                </a:solidFill>
                <a:latin typeface="Inter"/>
              </a:rPr>
              <a:t> Penalizes large weights.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7750" y="4093368"/>
            <a:ext cx="4743450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475569"/>
                </a:solidFill>
                <a:latin typeface="Inter"/>
              </a:rPr>
              <a:t>Lasso Regression (L1):</a:t>
            </a:r>
            <a:r>
              <a:rPr sz="1125" b="0" i="0" u="none">
                <a:solidFill>
                  <a:srgbClr val="475569"/>
                </a:solidFill>
                <a:latin typeface="Inter"/>
              </a:rPr>
              <a:t> Performs feature sparsity.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7750" y="4421981"/>
            <a:ext cx="474345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475569"/>
                </a:solidFill>
                <a:latin typeface="Inter"/>
              </a:rPr>
              <a:t>Support Vector Regressor (SVR):</a:t>
            </a:r>
            <a:r>
              <a:rPr sz="1125" b="0" i="0" u="none">
                <a:solidFill>
                  <a:srgbClr val="475569"/>
                </a:solidFill>
                <a:latin typeface="Inter"/>
              </a:rPr>
              <a:t> Non-linear kernel margin optimization.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0800" y="3126581"/>
            <a:ext cx="190500" cy="1524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667500" y="3436143"/>
            <a:ext cx="4743450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475569"/>
                </a:solidFill>
                <a:latin typeface="Inter"/>
              </a:rPr>
              <a:t>Decision Tree Regressor:</a:t>
            </a:r>
            <a:r>
              <a:rPr sz="1125" b="0" i="0" u="none">
                <a:solidFill>
                  <a:srgbClr val="475569"/>
                </a:solidFill>
                <a:latin typeface="Inter"/>
              </a:rPr>
              <a:t> Single tree baseline.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67500" y="3764756"/>
            <a:ext cx="4743450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475569"/>
                </a:solidFill>
                <a:latin typeface="Inter"/>
              </a:rPr>
              <a:t>Random Forest Regressor:</a:t>
            </a:r>
            <a:r>
              <a:rPr sz="1125" b="0" i="0" u="none">
                <a:solidFill>
                  <a:srgbClr val="475569"/>
                </a:solidFill>
                <a:latin typeface="Inter"/>
              </a:rPr>
              <a:t> Bagging ensemble.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67500" y="4093368"/>
            <a:ext cx="4743450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475569"/>
                </a:solidFill>
                <a:latin typeface="Inter"/>
              </a:rPr>
              <a:t>Gradient Boosting Regressor:</a:t>
            </a:r>
            <a:r>
              <a:rPr sz="1125" b="0" i="0" u="none">
                <a:solidFill>
                  <a:srgbClr val="475569"/>
                </a:solidFill>
                <a:latin typeface="Inter"/>
              </a:rPr>
              <a:t> Sequential boosting.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67500" y="4421981"/>
            <a:ext cx="4743450" cy="196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dirty="0" err="1" smtClean="0">
                <a:solidFill>
                  <a:srgbClr val="475569"/>
                </a:solidFill>
                <a:latin typeface="Inter"/>
              </a:rPr>
              <a:t>XGBoost</a:t>
            </a:r>
            <a:r>
              <a:rPr sz="1125" b="1" dirty="0" smtClean="0">
                <a:solidFill>
                  <a:srgbClr val="475569"/>
                </a:solidFill>
                <a:latin typeface="Inter"/>
              </a:rPr>
              <a:t> </a:t>
            </a:r>
            <a:r>
              <a:rPr sz="1125" b="1" dirty="0" err="1" smtClean="0">
                <a:solidFill>
                  <a:srgbClr val="475569"/>
                </a:solidFill>
                <a:latin typeface="Inter"/>
              </a:rPr>
              <a:t>Regressor</a:t>
            </a:r>
            <a:r>
              <a:rPr sz="1125" b="1" dirty="0" smtClean="0">
                <a:solidFill>
                  <a:srgbClr val="475569"/>
                </a:solidFill>
                <a:latin typeface="Inter"/>
              </a:rPr>
              <a:t>: </a:t>
            </a:r>
            <a:r>
              <a:rPr sz="1125" dirty="0" smtClean="0">
                <a:solidFill>
                  <a:srgbClr val="475569"/>
                </a:solidFill>
                <a:latin typeface="Inter"/>
              </a:rPr>
              <a:t>Enhanced Gradient Boost</a:t>
            </a:r>
            <a:r>
              <a:rPr sz="1125" b="0" i="0" u="none" dirty="0" smtClean="0">
                <a:solidFill>
                  <a:srgbClr val="475569"/>
                </a:solidFill>
                <a:latin typeface="Inter"/>
              </a:rPr>
              <a:t>.</a:t>
            </a:r>
            <a:endParaRPr sz="1125" b="0" i="0" u="none" dirty="0">
              <a:solidFill>
                <a:srgbClr val="475569"/>
              </a:solidFill>
              <a:latin typeface="Inter"/>
            </a:endParaRP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1050" y="3455193"/>
            <a:ext cx="114300" cy="142875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1050" y="3783806"/>
            <a:ext cx="114300" cy="142875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1050" y="4112418"/>
            <a:ext cx="114300" cy="142875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1050" y="4441031"/>
            <a:ext cx="114300" cy="142875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00800" y="3455193"/>
            <a:ext cx="114300" cy="142875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00800" y="3783806"/>
            <a:ext cx="114300" cy="142875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00800" y="4112418"/>
            <a:ext cx="114300" cy="142875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00800" y="4441031"/>
            <a:ext cx="114300" cy="1428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450306"/>
            <a:ext cx="5410200" cy="278606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0300" y="2450306"/>
            <a:ext cx="5410200" cy="278606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6419850"/>
            <a:ext cx="11049000" cy="2476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" y="476250"/>
            <a:ext cx="535066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oppins"/>
              </a:rPr>
              <a:t>Hyperparameter Tuning Strategy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52570" y="590550"/>
            <a:ext cx="1767929" cy="228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1500" y="6524625"/>
            <a:ext cx="162877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Inter"/>
              </a:rPr>
              <a:t>Bike Sharing Analytics Project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58550" y="6524625"/>
            <a:ext cx="3619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Inter"/>
              </a:rPr>
              <a:t>Slide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5375" y="2688431"/>
            <a:ext cx="4880610" cy="2857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oppins"/>
              </a:rPr>
              <a:t>Regularization Models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625" y="3088481"/>
            <a:ext cx="49339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475569"/>
                </a:solidFill>
                <a:latin typeface="Inter"/>
              </a:rPr>
              <a:t>Ridge &amp; Lasso Regression: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625" y="3955256"/>
            <a:ext cx="49339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475569"/>
                </a:solidFill>
                <a:latin typeface="Inter"/>
              </a:rPr>
              <a:t>Support Vector Regressor (SVR):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15125" y="2688431"/>
            <a:ext cx="4900612" cy="2857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oppins"/>
              </a:rPr>
              <a:t>Tree Ensembles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8425" y="3088481"/>
            <a:ext cx="49339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475569"/>
                </a:solidFill>
                <a:latin typeface="Inter"/>
              </a:rPr>
              <a:t>Random Forest &amp; Extra Trees: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8425" y="4169568"/>
            <a:ext cx="49339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475569"/>
                </a:solidFill>
                <a:latin typeface="Inter"/>
              </a:rPr>
              <a:t>Gradient Boosting Regressor: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9625" y="2736056"/>
            <a:ext cx="190500" cy="1905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076325" y="3412331"/>
            <a:ext cx="466725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Regularization penalty strength to control coefficient shrinkage and prevent overfitting.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6325" y="4241006"/>
            <a:ext cx="466725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Regularization parameter and kernel types .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48425" y="2736056"/>
            <a:ext cx="171450" cy="1905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715125" y="3412331"/>
            <a:ext cx="4667250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n_estimators (100–300), max_depth (10–30), and min_samples_split (2–10) to balance tree depth and reduce variance.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15125" y="4455318"/>
            <a:ext cx="466725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learning_rate (0.01–0.1), n_estimators (100–300), and subsample (0.8–1.0) to refine step-size optimization.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9625" y="3431381"/>
            <a:ext cx="114300" cy="142875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455560" y="3702843"/>
            <a:ext cx="2160240" cy="123825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9625" y="4260056"/>
            <a:ext cx="114300" cy="142875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935233" y="4491037"/>
            <a:ext cx="1200894" cy="123825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76325" y="4502943"/>
            <a:ext cx="1156989" cy="133350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48425" y="3431381"/>
            <a:ext cx="114300" cy="142875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48425" y="4474368"/>
            <a:ext cx="114300" cy="1428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MODEL COMPARISON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8 models, ranked by R² Score</a:t>
            </a:r>
            <a:endParaRPr lang="en-US" sz="3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/>
          </p:nvPr>
        </p:nvGraphicFramePr>
        <p:xfrm>
          <a:off x="548640" y="1691640"/>
          <a:ext cx="5852160" cy="2407920"/>
        </p:xfrm>
        <a:graphic>
          <a:graphicData uri="http://schemas.openxmlformats.org/drawingml/2006/table">
            <a:tbl>
              <a:tblPr/>
              <a:tblGrid>
                <a:gridCol w="2834640"/>
                <a:gridCol w="1005840"/>
                <a:gridCol w="1005840"/>
                <a:gridCol w="1005840"/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Algorithm</a:t>
                      </a:r>
                      <a:endParaRPr lang="en-US" sz="1200" dirty="0"/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MAE</a:t>
                      </a:r>
                      <a:endParaRPr lang="en-US" sz="1200" dirty="0"/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RMSE</a:t>
                      </a:r>
                      <a:endParaRPr lang="en-US" sz="1200" dirty="0"/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R² Score</a:t>
                      </a:r>
                      <a:endParaRPr lang="en-US" sz="1200" dirty="0"/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2809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293D"/>
                          </a:solidFill>
                        </a:rPr>
                        <a:t>Support Vector Regressor (SVR)</a:t>
                      </a:r>
                      <a:endParaRPr lang="en-US" sz="1150" dirty="0"/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3F2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3293D"/>
                          </a:solidFill>
                        </a:rPr>
                        <a:t>391.79</a:t>
                      </a:r>
                      <a:endParaRPr lang="en-US" sz="1150" dirty="0"/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3F2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3293D"/>
                          </a:solidFill>
                        </a:rPr>
                        <a:t>536.19</a:t>
                      </a:r>
                      <a:endParaRPr lang="en-US" sz="1150" dirty="0"/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3F2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3293D"/>
                          </a:solidFill>
                        </a:rPr>
                        <a:t>0.9160</a:t>
                      </a:r>
                      <a:endParaRPr lang="en-US" sz="1150" dirty="0"/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3F2E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293D"/>
                          </a:solidFill>
                        </a:rPr>
                        <a:t>Random Forest Regressor</a:t>
                      </a:r>
                      <a:endParaRPr lang="en-US" sz="1150" dirty="0"/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3293D"/>
                          </a:solidFill>
                        </a:rPr>
                        <a:t>408.48</a:t>
                      </a:r>
                      <a:endParaRPr lang="en-US" sz="1150" dirty="0"/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3293D"/>
                          </a:solidFill>
                        </a:rPr>
                        <a:t>544.95</a:t>
                      </a:r>
                      <a:endParaRPr lang="en-US" sz="1150" dirty="0"/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3293D"/>
                          </a:solidFill>
                        </a:rPr>
                        <a:t>0.9132</a:t>
                      </a:r>
                      <a:endParaRPr lang="en-US" sz="1150" dirty="0"/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293D"/>
                          </a:solidFill>
                        </a:rPr>
                        <a:t>Gradient Boosting Regressor</a:t>
                      </a:r>
                      <a:endParaRPr lang="en-US" sz="1150" dirty="0"/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3293D"/>
                          </a:solidFill>
                        </a:rPr>
                        <a:t>430.58</a:t>
                      </a:r>
                      <a:endParaRPr lang="en-US" sz="1150" dirty="0"/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3293D"/>
                          </a:solidFill>
                        </a:rPr>
                        <a:t>560.07</a:t>
                      </a:r>
                      <a:endParaRPr lang="en-US" sz="1150" dirty="0"/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3293D"/>
                          </a:solidFill>
                        </a:rPr>
                        <a:t>0.9084</a:t>
                      </a:r>
                      <a:endParaRPr lang="en-US" sz="1150" dirty="0"/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293D"/>
                          </a:solidFill>
                        </a:rPr>
                        <a:t>XGBoost Regressor (Bonus)</a:t>
                      </a:r>
                      <a:endParaRPr lang="en-US" sz="1150" dirty="0"/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3293D"/>
                          </a:solidFill>
                        </a:rPr>
                        <a:t>429.43</a:t>
                      </a:r>
                      <a:endParaRPr lang="en-US" sz="1150" dirty="0"/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3293D"/>
                          </a:solidFill>
                        </a:rPr>
                        <a:t>577.49</a:t>
                      </a:r>
                      <a:endParaRPr lang="en-US" sz="1150" dirty="0"/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3293D"/>
                          </a:solidFill>
                        </a:rPr>
                        <a:t>0.9026</a:t>
                      </a:r>
                      <a:endParaRPr lang="en-US" sz="1150" dirty="0"/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293D"/>
                          </a:solidFill>
                        </a:rPr>
                        <a:t>Decision Tree Regressor</a:t>
                      </a:r>
                      <a:endParaRPr lang="en-US" sz="1150" dirty="0"/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3293D"/>
                          </a:solidFill>
                        </a:rPr>
                        <a:t>507.52</a:t>
                      </a:r>
                      <a:endParaRPr lang="en-US" sz="1150" dirty="0"/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3293D"/>
                          </a:solidFill>
                        </a:rPr>
                        <a:t>668.38</a:t>
                      </a:r>
                      <a:endParaRPr lang="en-US" sz="1150" dirty="0"/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3293D"/>
                          </a:solidFill>
                        </a:rPr>
                        <a:t>0.8695</a:t>
                      </a:r>
                      <a:endParaRPr lang="en-US" sz="1150" dirty="0"/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293D"/>
                          </a:solidFill>
                        </a:rPr>
                        <a:t>Ridge Regression</a:t>
                      </a:r>
                      <a:endParaRPr lang="en-US" sz="1150" dirty="0"/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3293D"/>
                          </a:solidFill>
                        </a:rPr>
                        <a:t>547.14</a:t>
                      </a:r>
                      <a:endParaRPr lang="en-US" sz="1150" dirty="0"/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3293D"/>
                          </a:solidFill>
                        </a:rPr>
                        <a:t>697.61</a:t>
                      </a:r>
                      <a:endParaRPr lang="en-US" sz="1150" dirty="0"/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3293D"/>
                          </a:solidFill>
                        </a:rPr>
                        <a:t>0.8578</a:t>
                      </a:r>
                      <a:endParaRPr lang="en-US" sz="1150" dirty="0"/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293D"/>
                          </a:solidFill>
                        </a:rPr>
                        <a:t>Lasso Regression</a:t>
                      </a:r>
                      <a:endParaRPr lang="en-US" sz="1150" dirty="0"/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3293D"/>
                          </a:solidFill>
                        </a:rPr>
                        <a:t>547.00</a:t>
                      </a:r>
                      <a:endParaRPr lang="en-US" sz="1150" dirty="0"/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3293D"/>
                          </a:solidFill>
                        </a:rPr>
                        <a:t>699.46</a:t>
                      </a:r>
                      <a:endParaRPr lang="en-US" sz="1150" dirty="0"/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3293D"/>
                          </a:solidFill>
                        </a:rPr>
                        <a:t>0.8571</a:t>
                      </a:r>
                      <a:endParaRPr lang="en-US" sz="1150" dirty="0"/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293D"/>
                          </a:solidFill>
                        </a:rPr>
                        <a:t>Linear Regression</a:t>
                      </a:r>
                      <a:endParaRPr lang="en-US" sz="1150" dirty="0"/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3293D"/>
                          </a:solidFill>
                        </a:rPr>
                        <a:t>547.90</a:t>
                      </a:r>
                      <a:endParaRPr lang="en-US" sz="1150" dirty="0"/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3293D"/>
                          </a:solidFill>
                        </a:rPr>
                        <a:t>708.18</a:t>
                      </a:r>
                      <a:endParaRPr lang="en-US" sz="1150" dirty="0"/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3293D"/>
                          </a:solidFill>
                        </a:rPr>
                        <a:t>0.8535</a:t>
                      </a:r>
                      <a:endParaRPr lang="en-US" sz="1150" dirty="0"/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Chart 0"/>
          <p:cNvGraphicFramePr/>
          <p:nvPr/>
        </p:nvGraphicFramePr>
        <p:xfrm>
          <a:off x="6675120" y="1691640"/>
          <a:ext cx="4937760" cy="4663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2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5A5"/>
                </a:solidFill>
              </a:rPr>
              <a:t>12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4097232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-1371600"/>
            <a:ext cx="4114800" cy="4114800"/>
          </a:xfrm>
          <a:prstGeom prst="ellipse">
            <a:avLst/>
          </a:prstGeom>
          <a:solidFill>
            <a:srgbClr val="028090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BEST MODEL SELECTION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GB" sz="3200" b="1" dirty="0">
                <a:solidFill>
                  <a:schemeClr val="bg1"/>
                </a:solidFill>
                <a:latin typeface="+mj-lt"/>
              </a:rPr>
              <a:t>Random Forest </a:t>
            </a:r>
            <a:r>
              <a:rPr lang="en-GB" sz="3200" b="1" dirty="0" err="1" smtClean="0">
                <a:solidFill>
                  <a:schemeClr val="bg1"/>
                </a:solidFill>
                <a:latin typeface="+mj-lt"/>
              </a:rPr>
              <a:t>Regressor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201168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91.6%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27889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Explained (R²)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337560" y="201168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391.79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3337560" y="27889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Absolute Error (bikes/day)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126480" y="201168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536.19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6126480" y="27889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(bikes/day)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3749040"/>
            <a:ext cx="10972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</a:t>
            </a:r>
            <a:r>
              <a:rPr lang="" sz="15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regressor </a:t>
            </a:r>
            <a:r>
              <a:rPr lang="en-US" sz="15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won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rental demand rises and falls non-linearly with temperature and </a:t>
            </a:r>
            <a:r>
              <a:rPr lang="en-US" sz="15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</a:t>
            </a:r>
            <a:r>
              <a:rPr lang="" sz="15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6A6"/>
                </a:solidFill>
              </a:rPr>
              <a:t>13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3439400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LIVE PREDICTION DEMO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prediction web application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5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Streamlit app lets users enter a date, season, weather, and calendar inputs, then returns a live rental forecast.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5120640" cy="777240"/>
          </a:xfrm>
          <a:prstGeom prst="roundRect">
            <a:avLst>
              <a:gd name="adj" fmla="val 9412"/>
            </a:avLst>
          </a:prstGeom>
          <a:solidFill>
            <a:srgbClr val="F4FBF9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926080"/>
            <a:ext cx="411480" cy="4114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926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25880" y="278892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25880" y="3108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overview, dataset info, and headline model metrics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3639312"/>
            <a:ext cx="5120640" cy="777240"/>
          </a:xfrm>
          <a:prstGeom prst="roundRect">
            <a:avLst>
              <a:gd name="adj" fmla="val 9412"/>
            </a:avLst>
          </a:prstGeom>
          <a:solidFill>
            <a:srgbClr val="F4FBF9"/>
          </a:solidFill>
          <a:ln/>
        </p:spPr>
      </p:sp>
      <p:sp>
        <p:nvSpPr>
          <p:cNvPr id="11" name="Shape 9"/>
          <p:cNvSpPr/>
          <p:nvPr/>
        </p:nvSpPr>
        <p:spPr>
          <a:xfrm>
            <a:off x="777240" y="3822192"/>
            <a:ext cx="411480" cy="4114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38221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325880" y="368503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25880" y="400507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form — enter conditions, get an instant rental forecast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4535424"/>
            <a:ext cx="5120640" cy="777240"/>
          </a:xfrm>
          <a:prstGeom prst="roundRect">
            <a:avLst>
              <a:gd name="adj" fmla="val 9412"/>
            </a:avLst>
          </a:prstGeom>
          <a:solidFill>
            <a:srgbClr val="F4FBF9"/>
          </a:solidFill>
          <a:ln/>
        </p:spPr>
      </p:sp>
      <p:sp>
        <p:nvSpPr>
          <p:cNvPr id="16" name="Shape 14"/>
          <p:cNvSpPr/>
          <p:nvPr/>
        </p:nvSpPr>
        <p:spPr>
          <a:xfrm>
            <a:off x="777240" y="4718304"/>
            <a:ext cx="411480" cy="4114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471830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325880" y="4581144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Comparison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25880" y="490118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results table and chart across all 8 models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5431536"/>
            <a:ext cx="5120640" cy="777240"/>
          </a:xfrm>
          <a:prstGeom prst="roundRect">
            <a:avLst>
              <a:gd name="adj" fmla="val 9412"/>
            </a:avLst>
          </a:prstGeom>
          <a:solidFill>
            <a:srgbClr val="F4FBF9"/>
          </a:solidFill>
          <a:ln/>
        </p:spPr>
      </p:sp>
      <p:sp>
        <p:nvSpPr>
          <p:cNvPr id="21" name="Shape 19"/>
          <p:cNvSpPr/>
          <p:nvPr/>
        </p:nvSpPr>
        <p:spPr>
          <a:xfrm>
            <a:off x="777240" y="5614416"/>
            <a:ext cx="411480" cy="4114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561441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325880" y="5477256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Team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325880" y="5797296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Group, course, and tech stack information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309360" y="1691640"/>
            <a:ext cx="5303520" cy="4572000"/>
          </a:xfrm>
          <a:prstGeom prst="roundRect">
            <a:avLst>
              <a:gd name="adj" fmla="val 2000"/>
            </a:avLst>
          </a:prstGeom>
          <a:solidFill>
            <a:srgbClr val="0B2545"/>
          </a:solidFill>
          <a:ln/>
        </p:spPr>
      </p:sp>
      <p:sp>
        <p:nvSpPr>
          <p:cNvPr id="26" name="Text 24"/>
          <p:cNvSpPr/>
          <p:nvPr/>
        </p:nvSpPr>
        <p:spPr>
          <a:xfrm>
            <a:off x="6583680" y="1920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PREDICTION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583680" y="23317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day · Summer · 28°C · Working day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583680" y="283464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 ~6,200 bikes</a:t>
            </a:r>
            <a:endParaRPr lang="en-US" sz="3000" dirty="0"/>
          </a:p>
        </p:txBody>
      </p:sp>
      <p:sp>
        <p:nvSpPr>
          <p:cNvPr id="29" name="Text 27"/>
          <p:cNvSpPr/>
          <p:nvPr/>
        </p:nvSpPr>
        <p:spPr>
          <a:xfrm>
            <a:off x="6583680" y="35204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F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rentals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583680" y="411480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Support Vector Regressor (SVR)  ·  Typical error ≈ ±392 bikes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5A5"/>
                </a:solidFill>
              </a:rPr>
              <a:t>15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4370774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645920"/>
            <a:ext cx="5029200" cy="5029200"/>
          </a:xfrm>
          <a:prstGeom prst="ellipse">
            <a:avLst/>
          </a:prstGeom>
          <a:solidFill>
            <a:srgbClr val="02809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4389120"/>
            <a:ext cx="3200400" cy="3200400"/>
          </a:xfrm>
          <a:prstGeom prst="ellipse">
            <a:avLst/>
          </a:prstGeom>
          <a:solidFill>
            <a:srgbClr val="02C39A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2860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269748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Group 5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31520" y="36118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Bike Sharing Demand — Regression Prediction &amp; Web Application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31520" y="45720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8F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Live Demo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7153064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6419850"/>
            <a:ext cx="11049000" cy="2476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476250"/>
            <a:ext cx="525065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oppins"/>
              </a:rPr>
              <a:t>Model Evaluation &amp; Leaderboard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83005" y="590550"/>
            <a:ext cx="2337494" cy="22860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71500" y="2100262"/>
          <a:ext cx="11029948" cy="34861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2000"/>
                <a:gridCol w="5113287"/>
                <a:gridCol w="1484411"/>
                <a:gridCol w="1525637"/>
                <a:gridCol w="2144613"/>
              </a:tblGrid>
              <a:tr h="387350">
                <a:tc>
                  <a:txBody>
                    <a:bodyPr/>
                    <a:lstStyle/>
                    <a:p>
                      <a:pPr algn="l"/>
                      <a:r>
                        <a:rPr sz="1050" b="0" i="0" u="none" dirty="0">
                          <a:solidFill>
                            <a:srgbClr val="FFFFFF"/>
                          </a:solidFill>
                          <a:latin typeface="Poppins SemiBold"/>
                        </a:rPr>
                        <a:t>Rank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Model Name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MAE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RMSE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R² Score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387350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334155"/>
                          </a:solidFill>
                          <a:latin typeface="Inter"/>
                        </a:rPr>
                        <a:t>1</a:t>
                      </a:r>
                      <a:r>
                        <a:rPr sz="1050" b="0" i="0" u="none">
                          <a:solidFill>
                            <a:srgbClr val="334155"/>
                          </a:solidFill>
                          <a:latin typeface="Inter"/>
                        </a:rPr>
                        <a:t> 🏆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334155"/>
                          </a:solidFill>
                          <a:latin typeface="Inter"/>
                        </a:rPr>
                        <a:t>Gradient Boosting Regressor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334155"/>
                          </a:solidFill>
                          <a:latin typeface="Inter"/>
                        </a:rPr>
                        <a:t>~510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334155"/>
                          </a:solidFill>
                          <a:latin typeface="Inter"/>
                        </a:rPr>
                        <a:t>~680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Inter"/>
                        </a:rPr>
                        <a:t>0.8850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87350"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Inter"/>
                        </a:rPr>
                        <a:t>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Random Forest </a:t>
                      </a:r>
                      <a:r>
                        <a:rPr sz="1050" b="0" i="0" u="none" dirty="0" err="1">
                          <a:solidFill>
                            <a:srgbClr val="334155"/>
                          </a:solidFill>
                          <a:latin typeface="Inter"/>
                        </a:rPr>
                        <a:t>Regressor</a:t>
                      </a:r>
                      <a:endParaRPr sz="1050" b="0" i="0" u="none" dirty="0">
                        <a:solidFill>
                          <a:srgbClr val="334155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Inter"/>
                        </a:rPr>
                        <a:t>~535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Inter"/>
                        </a:rPr>
                        <a:t>~715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Inter"/>
                        </a:rPr>
                        <a:t>0.8720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387350"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Inter"/>
                        </a:rPr>
                        <a:t>3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Inter"/>
                        </a:rPr>
                        <a:t>Extra Trees Regressor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Inter"/>
                        </a:rPr>
                        <a:t>~550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Inter"/>
                        </a:rPr>
                        <a:t>~730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Inter"/>
                        </a:rPr>
                        <a:t>0.8670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87350"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Inter"/>
                        </a:rPr>
                        <a:t>4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Inter"/>
                        </a:rPr>
                        <a:t>Ridge Regression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Inter"/>
                        </a:rPr>
                        <a:t>~620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Inter"/>
                        </a:rPr>
                        <a:t>~810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Inter"/>
                        </a:rPr>
                        <a:t>0.8350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387350"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Inter"/>
                        </a:rPr>
                        <a:t>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Inter"/>
                        </a:rPr>
                        <a:t>Linear Regression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Inter"/>
                        </a:rPr>
                        <a:t>~625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Inter"/>
                        </a:rPr>
                        <a:t>~815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Inter"/>
                        </a:rPr>
                        <a:t>0.8330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87350"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Inter"/>
                        </a:rPr>
                        <a:t>6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Inter"/>
                        </a:rPr>
                        <a:t>Lasso Regression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Inter"/>
                        </a:rPr>
                        <a:t>~624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Inter"/>
                        </a:rPr>
                        <a:t>~816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Inter"/>
                        </a:rPr>
                        <a:t>0.8325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387350"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Inter"/>
                        </a:rPr>
                        <a:t>7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Inter"/>
                        </a:rPr>
                        <a:t>Support Vector Regressor (SVR)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Inter"/>
                        </a:rPr>
                        <a:t>~680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Inter"/>
                        </a:rPr>
                        <a:t>~890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Inter"/>
                        </a:rPr>
                        <a:t>0.8010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87350"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Inter"/>
                        </a:rPr>
                        <a:t>8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Inter"/>
                        </a:rPr>
                        <a:t>Decision Tree Regressor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Inter"/>
                        </a:rPr>
                        <a:t>~710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Inter"/>
                        </a:rPr>
                        <a:t>~950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Inter"/>
                        </a:rPr>
                        <a:t>0.7740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71500" y="6524625"/>
            <a:ext cx="162877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Inter"/>
              </a:rPr>
              <a:t>Bike Sharing Analytics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524625"/>
            <a:ext cx="41910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Inter"/>
              </a:rPr>
              <a:t>Slide 10</a:t>
            </a:r>
          </a:p>
        </p:txBody>
      </p:sp>
      <p:sp>
        <p:nvSpPr>
          <p:cNvPr id="9" name="Rectangle 8"/>
          <p:cNvSpPr/>
          <p:nvPr/>
        </p:nvSpPr>
        <p:spPr>
          <a:xfrm>
            <a:off x="581025" y="2909887"/>
            <a:ext cx="762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343025" y="2909887"/>
            <a:ext cx="511328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456312" y="2909887"/>
            <a:ext cx="148441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940724" y="2909887"/>
            <a:ext cx="152563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9466361" y="2909887"/>
            <a:ext cx="214461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81025" y="3290887"/>
            <a:ext cx="762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343025" y="3290887"/>
            <a:ext cx="511328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456312" y="3290887"/>
            <a:ext cx="148441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940724" y="3290887"/>
            <a:ext cx="152563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9466361" y="3290887"/>
            <a:ext cx="214461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81025" y="3671887"/>
            <a:ext cx="762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1343025" y="3671887"/>
            <a:ext cx="511328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456312" y="3671887"/>
            <a:ext cx="148441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940724" y="3671887"/>
            <a:ext cx="152563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466361" y="3671887"/>
            <a:ext cx="214461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81025" y="4052887"/>
            <a:ext cx="762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1343025" y="4052887"/>
            <a:ext cx="511328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456312" y="4052887"/>
            <a:ext cx="148441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940724" y="4052887"/>
            <a:ext cx="152563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9466361" y="4052887"/>
            <a:ext cx="214461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81025" y="4433887"/>
            <a:ext cx="762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1343025" y="4433887"/>
            <a:ext cx="511328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456312" y="4433887"/>
            <a:ext cx="148441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7940724" y="4433887"/>
            <a:ext cx="152563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9466361" y="4433887"/>
            <a:ext cx="214461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581025" y="4814887"/>
            <a:ext cx="762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1343025" y="4814887"/>
            <a:ext cx="511328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456312" y="4814887"/>
            <a:ext cx="148441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7940724" y="4814887"/>
            <a:ext cx="152563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9466361" y="4814887"/>
            <a:ext cx="214461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581025" y="5195887"/>
            <a:ext cx="762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1343025" y="5195887"/>
            <a:ext cx="511328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6456312" y="5195887"/>
            <a:ext cx="148441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7940724" y="5195887"/>
            <a:ext cx="152563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9466361" y="5195887"/>
            <a:ext cx="214461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37811" y="2605087"/>
            <a:ext cx="647700" cy="2476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0845" y="3005137"/>
            <a:ext cx="3530649" cy="22479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095" y="3005137"/>
            <a:ext cx="3530500" cy="22479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6419850"/>
            <a:ext cx="11049000" cy="2476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1500" y="476250"/>
            <a:ext cx="466058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oppins"/>
              </a:rPr>
              <a:t>Feature Engineering Strategy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90595" y="590550"/>
            <a:ext cx="2329904" cy="228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71500" y="2490787"/>
            <a:ext cx="11049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To enhance model expressiveness, explicit calendar extractions were derived directly from date parameters to capture sub-monthly and cyclical signals: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" y="6524625"/>
            <a:ext cx="162877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Inter"/>
              </a:rPr>
              <a:t>Bike Sharing Analytics Project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58550" y="6524625"/>
            <a:ext cx="3619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Inter"/>
              </a:rPr>
              <a:t>Slide 7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38970" y="3243262"/>
            <a:ext cx="457200" cy="4572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2238970" y="3852862"/>
            <a:ext cx="3207119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 dirty="0">
                <a:solidFill>
                  <a:srgbClr val="0F172A"/>
                </a:solidFill>
                <a:latin typeface="Poppins"/>
              </a:rPr>
              <a:t>quarter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38970" y="4186237"/>
            <a:ext cx="3054399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i="0" u="none">
                <a:solidFill>
                  <a:srgbClr val="0D9488"/>
                </a:solidFill>
                <a:latin typeface="Inter SemiBold"/>
              </a:rPr>
              <a:t>Range: 1 –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38970" y="4414837"/>
            <a:ext cx="3054399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64748B"/>
                </a:solidFill>
                <a:latin typeface="Inter"/>
              </a:rPr>
              <a:t>Provides macro seasonal indicators to group quarterly demand dynamics and business reporting windows.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98220" y="3243262"/>
            <a:ext cx="457200" cy="4572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998220" y="3852862"/>
            <a:ext cx="3206963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oppins"/>
              </a:rPr>
              <a:t>is_month_start / end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98220" y="4186237"/>
            <a:ext cx="30542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i="0" u="none">
                <a:solidFill>
                  <a:srgbClr val="0D9488"/>
                </a:solidFill>
                <a:latin typeface="Inter SemiBold"/>
              </a:rPr>
              <a:t>Binary Flags (0 or 1)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98220" y="4414837"/>
            <a:ext cx="30542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64748B"/>
                </a:solidFill>
                <a:latin typeface="Inter"/>
              </a:rPr>
              <a:t>Captures localized demand surges associated with subscription renewals or payroll cycles.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48508" y="3367087"/>
            <a:ext cx="238125" cy="20955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07757" y="3367087"/>
            <a:ext cx="238125" cy="2095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</TotalTime>
  <Words>1334</Words>
  <Application>Microsoft Office PowerPoint</Application>
  <PresentationFormat>Widescreen</PresentationFormat>
  <Paragraphs>258</Paragraphs>
  <Slides>17</Slides>
  <Notes>7</Notes>
  <HiddenSlides>2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8" baseType="lpstr">
      <vt:lpstr>Arial</vt:lpstr>
      <vt:lpstr>Book Antiqua</vt:lpstr>
      <vt:lpstr>Calibri</vt:lpstr>
      <vt:lpstr>Cambria</vt:lpstr>
      <vt:lpstr>Inter</vt:lpstr>
      <vt:lpstr>Inter Medium</vt:lpstr>
      <vt:lpstr>Inter SemiBold</vt:lpstr>
      <vt:lpstr>Poppins</vt:lpstr>
      <vt:lpstr>Poppins SemiBold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Abi</cp:lastModifiedBy>
  <cp:revision>26</cp:revision>
  <dcterms:created xsi:type="dcterms:W3CDTF">2013-01-27T09:14:16Z</dcterms:created>
  <dcterms:modified xsi:type="dcterms:W3CDTF">2026-09-04T15:25:57Z</dcterms:modified>
  <cp:category/>
</cp:coreProperties>
</file>